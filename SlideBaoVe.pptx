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uli" panose="020B0604020202020204" charset="0"/>
      <p:regular r:id="rId18"/>
    </p:embeddedFont>
    <p:embeddedFont>
      <p:font typeface="Muli Bold" panose="020B0604020202020204" charset="0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Open Sans Bold" panose="020B0806030504020204" pitchFamily="3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844" autoAdjust="0"/>
  </p:normalViewPr>
  <p:slideViewPr>
    <p:cSldViewPr>
      <p:cViewPr varScale="1">
        <p:scale>
          <a:sx n="55" d="100"/>
          <a:sy n="55" d="100"/>
        </p:scale>
        <p:origin x="21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581366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2554533" y="3581366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A5E473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F3F3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1060105" y="2395210"/>
            <a:ext cx="132338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LUẬN VĂN TỐT NGHIỆP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1483" y="3869075"/>
            <a:ext cx="13615589" cy="123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b="1" spc="-47" err="1">
                <a:solidFill>
                  <a:srgbClr val="193C43"/>
                </a:solidFill>
                <a:latin typeface="Muli Bold"/>
                <a:ea typeface="Muli Bold"/>
                <a:cs typeface="Muli Bold"/>
                <a:sym typeface="Muli Bold"/>
              </a:rPr>
              <a:t>Đề</a:t>
            </a:r>
            <a:r>
              <a:rPr lang="en-US" sz="4299" b="1" spc="-47">
                <a:solidFill>
                  <a:srgbClr val="193C43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4299" b="1" spc="-47" err="1">
                <a:solidFill>
                  <a:srgbClr val="193C43"/>
                </a:solidFill>
                <a:latin typeface="Muli Bold"/>
                <a:ea typeface="Muli Bold"/>
                <a:cs typeface="Muli Bold"/>
                <a:sym typeface="Muli Bold"/>
              </a:rPr>
              <a:t>tài</a:t>
            </a:r>
            <a:r>
              <a:rPr lang="en-US" sz="4299" b="1" spc="-47">
                <a:solidFill>
                  <a:srgbClr val="193C43"/>
                </a:solidFill>
                <a:latin typeface="Muli Bold"/>
                <a:ea typeface="Muli Bold"/>
                <a:cs typeface="Muli Bold"/>
                <a:sym typeface="Muli Bold"/>
              </a:rPr>
              <a:t>: ỨNG DỤNG QUẢN LÝ QUÁN CAFE NẮNG PR</a:t>
            </a:r>
          </a:p>
          <a:p>
            <a:pPr algn="l">
              <a:lnSpc>
                <a:spcPts val="3525"/>
              </a:lnSpc>
            </a:pPr>
            <a:endParaRPr lang="en-US" sz="4299" b="1" spc="-47">
              <a:solidFill>
                <a:srgbClr val="193C43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01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28703" y="6205039"/>
            <a:ext cx="1043289" cy="1029532"/>
            <a:chOff x="0" y="0"/>
            <a:chExt cx="170978" cy="16872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70978" cy="168723"/>
            </a:xfrm>
            <a:custGeom>
              <a:avLst/>
              <a:gdLst/>
              <a:ahLst/>
              <a:cxnLst/>
              <a:rect l="l" t="t" r="r" b="b"/>
              <a:pathLst>
                <a:path w="170978" h="168723">
                  <a:moveTo>
                    <a:pt x="74207" y="0"/>
                  </a:moveTo>
                  <a:lnTo>
                    <a:pt x="96771" y="0"/>
                  </a:lnTo>
                  <a:cubicBezTo>
                    <a:pt x="116452" y="0"/>
                    <a:pt x="135327" y="7818"/>
                    <a:pt x="149243" y="21735"/>
                  </a:cubicBezTo>
                  <a:cubicBezTo>
                    <a:pt x="163160" y="35651"/>
                    <a:pt x="170978" y="54526"/>
                    <a:pt x="170978" y="74207"/>
                  </a:cubicBezTo>
                  <a:lnTo>
                    <a:pt x="170978" y="94517"/>
                  </a:lnTo>
                  <a:cubicBezTo>
                    <a:pt x="170978" y="114197"/>
                    <a:pt x="163160" y="133072"/>
                    <a:pt x="149243" y="146989"/>
                  </a:cubicBezTo>
                  <a:cubicBezTo>
                    <a:pt x="135327" y="160905"/>
                    <a:pt x="116452" y="168723"/>
                    <a:pt x="96771" y="168723"/>
                  </a:cubicBezTo>
                  <a:lnTo>
                    <a:pt x="74207" y="168723"/>
                  </a:lnTo>
                  <a:cubicBezTo>
                    <a:pt x="54526" y="168723"/>
                    <a:pt x="35651" y="160905"/>
                    <a:pt x="21735" y="146989"/>
                  </a:cubicBezTo>
                  <a:cubicBezTo>
                    <a:pt x="7818" y="133072"/>
                    <a:pt x="0" y="114197"/>
                    <a:pt x="0" y="94517"/>
                  </a:cubicBezTo>
                  <a:lnTo>
                    <a:pt x="0" y="74207"/>
                  </a:lnTo>
                  <a:cubicBezTo>
                    <a:pt x="0" y="54526"/>
                    <a:pt x="7818" y="35651"/>
                    <a:pt x="21735" y="21735"/>
                  </a:cubicBezTo>
                  <a:cubicBezTo>
                    <a:pt x="35651" y="7818"/>
                    <a:pt x="54526" y="0"/>
                    <a:pt x="74207" y="0"/>
                  </a:cubicBezTo>
                  <a:close/>
                </a:path>
              </a:pathLst>
            </a:custGeom>
            <a:solidFill>
              <a:srgbClr val="04A18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70978" cy="206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1028719" y="7520125"/>
            <a:ext cx="4127368" cy="8047"/>
          </a:xfrm>
          <a:prstGeom prst="line">
            <a:avLst/>
          </a:prstGeom>
          <a:ln w="19050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1302069" y="6380962"/>
            <a:ext cx="496559" cy="677685"/>
          </a:xfrm>
          <a:custGeom>
            <a:avLst/>
            <a:gdLst/>
            <a:ahLst/>
            <a:cxnLst/>
            <a:rect l="l" t="t" r="r" b="b"/>
            <a:pathLst>
              <a:path w="496559" h="677685">
                <a:moveTo>
                  <a:pt x="0" y="0"/>
                </a:moveTo>
                <a:lnTo>
                  <a:pt x="496558" y="0"/>
                </a:lnTo>
                <a:lnTo>
                  <a:pt x="496558" y="677685"/>
                </a:lnTo>
                <a:lnTo>
                  <a:pt x="0" y="6776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1060105" y="7729336"/>
            <a:ext cx="1011888" cy="998545"/>
            <a:chOff x="0" y="0"/>
            <a:chExt cx="170978" cy="16872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0978" cy="168723"/>
            </a:xfrm>
            <a:custGeom>
              <a:avLst/>
              <a:gdLst/>
              <a:ahLst/>
              <a:cxnLst/>
              <a:rect l="l" t="t" r="r" b="b"/>
              <a:pathLst>
                <a:path w="170978" h="168723">
                  <a:moveTo>
                    <a:pt x="76510" y="0"/>
                  </a:moveTo>
                  <a:lnTo>
                    <a:pt x="94468" y="0"/>
                  </a:lnTo>
                  <a:cubicBezTo>
                    <a:pt x="114760" y="0"/>
                    <a:pt x="134221" y="8061"/>
                    <a:pt x="148569" y="22409"/>
                  </a:cubicBezTo>
                  <a:cubicBezTo>
                    <a:pt x="162917" y="36757"/>
                    <a:pt x="170978" y="56218"/>
                    <a:pt x="170978" y="76510"/>
                  </a:cubicBezTo>
                  <a:lnTo>
                    <a:pt x="170978" y="92214"/>
                  </a:lnTo>
                  <a:cubicBezTo>
                    <a:pt x="170978" y="112505"/>
                    <a:pt x="162917" y="131966"/>
                    <a:pt x="148569" y="146314"/>
                  </a:cubicBezTo>
                  <a:cubicBezTo>
                    <a:pt x="134221" y="160663"/>
                    <a:pt x="114760" y="168723"/>
                    <a:pt x="94468" y="168723"/>
                  </a:cubicBezTo>
                  <a:lnTo>
                    <a:pt x="76510" y="168723"/>
                  </a:lnTo>
                  <a:cubicBezTo>
                    <a:pt x="56218" y="168723"/>
                    <a:pt x="36757" y="160663"/>
                    <a:pt x="22409" y="146314"/>
                  </a:cubicBezTo>
                  <a:cubicBezTo>
                    <a:pt x="8061" y="131966"/>
                    <a:pt x="0" y="112505"/>
                    <a:pt x="0" y="92214"/>
                  </a:cubicBezTo>
                  <a:lnTo>
                    <a:pt x="0" y="76510"/>
                  </a:lnTo>
                  <a:cubicBezTo>
                    <a:pt x="0" y="56218"/>
                    <a:pt x="8061" y="36757"/>
                    <a:pt x="22409" y="22409"/>
                  </a:cubicBezTo>
                  <a:cubicBezTo>
                    <a:pt x="36757" y="8061"/>
                    <a:pt x="56218" y="0"/>
                    <a:pt x="76510" y="0"/>
                  </a:cubicBezTo>
                  <a:close/>
                </a:path>
              </a:pathLst>
            </a:custGeom>
            <a:solidFill>
              <a:srgbClr val="04A18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70978" cy="206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AutoShape 44"/>
          <p:cNvSpPr/>
          <p:nvPr/>
        </p:nvSpPr>
        <p:spPr>
          <a:xfrm flipV="1">
            <a:off x="1060120" y="8929044"/>
            <a:ext cx="4127368" cy="8047"/>
          </a:xfrm>
          <a:prstGeom prst="line">
            <a:avLst/>
          </a:prstGeom>
          <a:ln w="19050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Freeform 45"/>
          <p:cNvSpPr/>
          <p:nvPr/>
        </p:nvSpPr>
        <p:spPr>
          <a:xfrm>
            <a:off x="1266805" y="7958745"/>
            <a:ext cx="598487" cy="539726"/>
          </a:xfrm>
          <a:custGeom>
            <a:avLst/>
            <a:gdLst/>
            <a:ahLst/>
            <a:cxnLst/>
            <a:rect l="l" t="t" r="r" b="b"/>
            <a:pathLst>
              <a:path w="598487" h="539726">
                <a:moveTo>
                  <a:pt x="0" y="0"/>
                </a:moveTo>
                <a:lnTo>
                  <a:pt x="598487" y="0"/>
                </a:lnTo>
                <a:lnTo>
                  <a:pt x="598487" y="539726"/>
                </a:lnTo>
                <a:lnTo>
                  <a:pt x="0" y="539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6" name="Group 46"/>
          <p:cNvGrpSpPr/>
          <p:nvPr/>
        </p:nvGrpSpPr>
        <p:grpSpPr>
          <a:xfrm>
            <a:off x="1011483" y="1028700"/>
            <a:ext cx="3685772" cy="866439"/>
            <a:chOff x="0" y="0"/>
            <a:chExt cx="970738" cy="22819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70738" cy="228198"/>
            </a:xfrm>
            <a:custGeom>
              <a:avLst/>
              <a:gdLst/>
              <a:ahLst/>
              <a:cxnLst/>
              <a:rect l="l" t="t" r="r" b="b"/>
              <a:pathLst>
                <a:path w="970738" h="228198">
                  <a:moveTo>
                    <a:pt x="107125" y="0"/>
                  </a:moveTo>
                  <a:lnTo>
                    <a:pt x="863614" y="0"/>
                  </a:lnTo>
                  <a:cubicBezTo>
                    <a:pt x="922777" y="0"/>
                    <a:pt x="970738" y="47961"/>
                    <a:pt x="970738" y="107125"/>
                  </a:cubicBezTo>
                  <a:lnTo>
                    <a:pt x="970738" y="121073"/>
                  </a:lnTo>
                  <a:cubicBezTo>
                    <a:pt x="970738" y="180236"/>
                    <a:pt x="922777" y="228198"/>
                    <a:pt x="863614" y="228198"/>
                  </a:cubicBezTo>
                  <a:lnTo>
                    <a:pt x="107125" y="228198"/>
                  </a:lnTo>
                  <a:cubicBezTo>
                    <a:pt x="47961" y="228198"/>
                    <a:pt x="0" y="180236"/>
                    <a:pt x="0" y="121073"/>
                  </a:cubicBezTo>
                  <a:lnTo>
                    <a:pt x="0" y="107125"/>
                  </a:lnTo>
                  <a:cubicBezTo>
                    <a:pt x="0" y="47961"/>
                    <a:pt x="47961" y="0"/>
                    <a:pt x="107125" y="0"/>
                  </a:cubicBezTo>
                  <a:close/>
                </a:path>
              </a:pathLst>
            </a:custGeom>
            <a:solidFill>
              <a:srgbClr val="04A18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70738" cy="26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1273322" y="1179888"/>
            <a:ext cx="429341" cy="524750"/>
          </a:xfrm>
          <a:custGeom>
            <a:avLst/>
            <a:gdLst/>
            <a:ahLst/>
            <a:cxnLst/>
            <a:rect l="l" t="t" r="r" b="b"/>
            <a:pathLst>
              <a:path w="429341" h="524750">
                <a:moveTo>
                  <a:pt x="0" y="0"/>
                </a:moveTo>
                <a:lnTo>
                  <a:pt x="429341" y="0"/>
                </a:lnTo>
                <a:lnTo>
                  <a:pt x="429341" y="524751"/>
                </a:lnTo>
                <a:lnTo>
                  <a:pt x="0" y="524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2332244" y="6054648"/>
            <a:ext cx="3620266" cy="124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9"/>
              </a:lnSpc>
            </a:pP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Sinh</a:t>
            </a: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viên</a:t>
            </a: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trình</a:t>
            </a: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bày</a:t>
            </a: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:</a:t>
            </a:r>
          </a:p>
          <a:p>
            <a:pPr marL="455970" lvl="1" indent="-227985" algn="just">
              <a:lnSpc>
                <a:spcPts val="3379"/>
              </a:lnSpc>
              <a:buAutoNum type="arabicPeriod"/>
            </a:pP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Lê </a:t>
            </a: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Đặng</a:t>
            </a: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Hải</a:t>
            </a: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111" err="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Phục</a:t>
            </a:r>
            <a:endParaRPr lang="en-US" sz="2111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marL="455970" lvl="1" indent="-227985" algn="just">
              <a:lnSpc>
                <a:spcPts val="3379"/>
              </a:lnSpc>
              <a:buAutoNum type="arabicPeriod"/>
            </a:pP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Trần Trọng Phúc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332244" y="7928003"/>
            <a:ext cx="3620266" cy="67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Ngày báo cáo</a:t>
            </a:r>
          </a:p>
          <a:p>
            <a:pPr algn="l">
              <a:lnSpc>
                <a:spcPts val="1731"/>
              </a:lnSpc>
            </a:pPr>
            <a:endParaRPr lang="en-US" sz="2111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1731"/>
              </a:lnSpc>
            </a:pPr>
            <a:r>
              <a:rPr lang="en-US" sz="2111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[19 / 08 / 2026]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862562" y="1351447"/>
            <a:ext cx="2422307" cy="33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999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Thuyết trình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11483" y="4997390"/>
            <a:ext cx="6894303" cy="51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GVHD: ThS. Nguyễn Kiều Oanh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45917" y="2465519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71750" y="2465519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A5E473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F3F3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1028700" y="1314450"/>
            <a:ext cx="132338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1. Mục đích của đề tài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8942" y="2527253"/>
            <a:ext cx="12475540" cy="5759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750"/>
              </a:lnSpc>
            </a:pPr>
            <a:r>
              <a:rPr lang="en-US" sz="35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Xây dựng phần mềm môi trường web để:</a:t>
            </a:r>
          </a:p>
          <a:p>
            <a:pPr marL="647700" lvl="1" indent="-323850" algn="just">
              <a:lnSpc>
                <a:spcPts val="75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Quản lý bán hàng: 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hình thức tại chỗ, mang đi, giao hàng.</a:t>
            </a:r>
          </a:p>
          <a:p>
            <a:pPr marL="647700" lvl="1" indent="-323850" algn="just">
              <a:lnSpc>
                <a:spcPts val="75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Quản lý kho: 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nhập kho, theo dõi tồn kho và hạn sử dụng.</a:t>
            </a:r>
          </a:p>
          <a:p>
            <a:pPr marL="647700" lvl="1" indent="-323850" algn="just">
              <a:lnSpc>
                <a:spcPts val="75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Công thức pha chế: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thiết lập định lượng nguyên liệu cho từng món.</a:t>
            </a:r>
          </a:p>
          <a:p>
            <a:pPr marL="647700" lvl="1" indent="-323850" algn="just">
              <a:lnSpc>
                <a:spcPts val="75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Quản lý tài chính: 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theo dõi doanh thu, công nợ.</a:t>
            </a:r>
          </a:p>
          <a:p>
            <a:pPr marL="647700" lvl="1" indent="-323850" algn="just">
              <a:lnSpc>
                <a:spcPts val="75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Quản lý nhân sự: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chấm công, tự động tính lương.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2470954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2554533" y="2470954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113614"/>
            <a:ext cx="8115300" cy="3821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34"/>
              </a:lnSpc>
            </a:pPr>
            <a:r>
              <a:rPr lang="en-US" sz="3067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Phần mềm quản lý dành cho </a:t>
            </a:r>
            <a:r>
              <a:rPr lang="en-US" sz="3067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một quán cafe</a:t>
            </a:r>
            <a:r>
              <a:rPr lang="en-US" sz="3067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, tại </a:t>
            </a:r>
            <a:r>
              <a:rPr lang="en-US" sz="3067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một địa điểm </a:t>
            </a:r>
            <a:r>
              <a:rPr lang="en-US" sz="3067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cụ thể, triển khai dưới dạng </a:t>
            </a:r>
            <a:r>
              <a:rPr lang="en-US" sz="3067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ứng dụng web</a:t>
            </a:r>
            <a:r>
              <a:rPr lang="en-US" sz="3067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, phục vụ một người dùng chính là </a:t>
            </a:r>
            <a:r>
              <a:rPr lang="en-US" sz="3067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chủ quán</a:t>
            </a:r>
            <a:r>
              <a:rPr lang="en-US" sz="3067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với toàn quyền quản trị.</a:t>
            </a:r>
          </a:p>
          <a:p>
            <a:pPr algn="l">
              <a:lnSpc>
                <a:spcPts val="6134"/>
              </a:lnSpc>
            </a:pPr>
            <a:endParaRPr lang="en-US" sz="3067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1319884"/>
            <a:ext cx="132338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2. Phạm vi của đề tài</a:t>
            </a:r>
          </a:p>
        </p:txBody>
      </p:sp>
      <p:grpSp>
        <p:nvGrpSpPr>
          <p:cNvPr id="15" name="Group 15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A5E473">
                <a:alpha val="89804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265" y="2361521"/>
            <a:ext cx="8677687" cy="6080969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</a:t>
            </a:r>
          </a:p>
        </p:txBody>
      </p:sp>
      <p:sp>
        <p:nvSpPr>
          <p:cNvPr id="35" name="AutoShape 35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F3F3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Báo cáo dự án </a:t>
            </a:r>
          </a:p>
        </p:txBody>
      </p:sp>
      <p:sp>
        <p:nvSpPr>
          <p:cNvPr id="6" name="AutoShape 6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03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73322" y="1457792"/>
            <a:ext cx="278997" cy="340996"/>
          </a:xfrm>
          <a:custGeom>
            <a:avLst/>
            <a:gdLst/>
            <a:ahLst/>
            <a:cxnLst/>
            <a:rect l="l" t="t" r="r" b="b"/>
            <a:pathLst>
              <a:path w="278997" h="340996">
                <a:moveTo>
                  <a:pt x="0" y="0"/>
                </a:moveTo>
                <a:lnTo>
                  <a:pt x="278996" y="0"/>
                </a:lnTo>
                <a:lnTo>
                  <a:pt x="278996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 flipV="1">
            <a:off x="1028700" y="2526013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2554533" y="2526013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9477776"/>
            <a:ext cx="18288000" cy="821934"/>
            <a:chOff x="0" y="0"/>
            <a:chExt cx="4816593" cy="2164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AutoShape 35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 rot="-5400000">
            <a:off x="2240232" y="1859207"/>
            <a:ext cx="928710" cy="3288037"/>
            <a:chOff x="0" y="0"/>
            <a:chExt cx="4224020" cy="1495486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224020" cy="14954864"/>
            </a:xfrm>
            <a:custGeom>
              <a:avLst/>
              <a:gdLst/>
              <a:ahLst/>
              <a:cxnLst/>
              <a:rect l="l" t="t" r="r" b="b"/>
              <a:pathLst>
                <a:path w="4224020" h="14954864">
                  <a:moveTo>
                    <a:pt x="4224020" y="14954864"/>
                  </a:moveTo>
                  <a:lnTo>
                    <a:pt x="2441575" y="14954864"/>
                  </a:lnTo>
                  <a:cubicBezTo>
                    <a:pt x="1093089" y="14954864"/>
                    <a:pt x="0" y="13861774"/>
                    <a:pt x="0" y="12513288"/>
                  </a:cubicBezTo>
                  <a:lnTo>
                    <a:pt x="0" y="0"/>
                  </a:lnTo>
                  <a:lnTo>
                    <a:pt x="1782445" y="0"/>
                  </a:lnTo>
                  <a:cubicBezTo>
                    <a:pt x="3130931" y="0"/>
                    <a:pt x="4224020" y="1093089"/>
                    <a:pt x="4224020" y="2441575"/>
                  </a:cubicBezTo>
                  <a:lnTo>
                    <a:pt x="4224020" y="14954864"/>
                  </a:lnTo>
                  <a:close/>
                </a:path>
              </a:pathLst>
            </a:custGeom>
            <a:solidFill>
              <a:srgbClr val="04A180"/>
            </a:solidFill>
          </p:spPr>
        </p:sp>
      </p:grpSp>
      <p:grpSp>
        <p:nvGrpSpPr>
          <p:cNvPr id="38" name="Group 38"/>
          <p:cNvGrpSpPr/>
          <p:nvPr/>
        </p:nvGrpSpPr>
        <p:grpSpPr>
          <a:xfrm rot="-5400000">
            <a:off x="2240232" y="3426092"/>
            <a:ext cx="928710" cy="3288037"/>
            <a:chOff x="0" y="0"/>
            <a:chExt cx="4224020" cy="1495486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24020" cy="14954864"/>
            </a:xfrm>
            <a:custGeom>
              <a:avLst/>
              <a:gdLst/>
              <a:ahLst/>
              <a:cxnLst/>
              <a:rect l="l" t="t" r="r" b="b"/>
              <a:pathLst>
                <a:path w="4224020" h="14954864">
                  <a:moveTo>
                    <a:pt x="4224020" y="14954864"/>
                  </a:moveTo>
                  <a:lnTo>
                    <a:pt x="2441575" y="14954864"/>
                  </a:lnTo>
                  <a:cubicBezTo>
                    <a:pt x="1093089" y="14954864"/>
                    <a:pt x="0" y="13861774"/>
                    <a:pt x="0" y="12513288"/>
                  </a:cubicBezTo>
                  <a:lnTo>
                    <a:pt x="0" y="0"/>
                  </a:lnTo>
                  <a:lnTo>
                    <a:pt x="1782445" y="0"/>
                  </a:lnTo>
                  <a:cubicBezTo>
                    <a:pt x="3130931" y="0"/>
                    <a:pt x="4224020" y="1093089"/>
                    <a:pt x="4224020" y="2441575"/>
                  </a:cubicBezTo>
                  <a:lnTo>
                    <a:pt x="4224020" y="14954864"/>
                  </a:lnTo>
                  <a:close/>
                </a:path>
              </a:pathLst>
            </a:custGeom>
            <a:solidFill>
              <a:srgbClr val="04A180"/>
            </a:solidFill>
          </p:spPr>
        </p:sp>
      </p:grpSp>
      <p:grpSp>
        <p:nvGrpSpPr>
          <p:cNvPr id="40" name="Group 40"/>
          <p:cNvGrpSpPr/>
          <p:nvPr/>
        </p:nvGrpSpPr>
        <p:grpSpPr>
          <a:xfrm rot="-5400000">
            <a:off x="2240232" y="4992977"/>
            <a:ext cx="928710" cy="3288037"/>
            <a:chOff x="0" y="0"/>
            <a:chExt cx="4224020" cy="149548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24020" cy="14954864"/>
            </a:xfrm>
            <a:custGeom>
              <a:avLst/>
              <a:gdLst/>
              <a:ahLst/>
              <a:cxnLst/>
              <a:rect l="l" t="t" r="r" b="b"/>
              <a:pathLst>
                <a:path w="4224020" h="14954864">
                  <a:moveTo>
                    <a:pt x="4224020" y="14954864"/>
                  </a:moveTo>
                  <a:lnTo>
                    <a:pt x="2441575" y="14954864"/>
                  </a:lnTo>
                  <a:cubicBezTo>
                    <a:pt x="1093089" y="14954864"/>
                    <a:pt x="0" y="13861774"/>
                    <a:pt x="0" y="12513288"/>
                  </a:cubicBezTo>
                  <a:lnTo>
                    <a:pt x="0" y="0"/>
                  </a:lnTo>
                  <a:lnTo>
                    <a:pt x="1782445" y="0"/>
                  </a:lnTo>
                  <a:cubicBezTo>
                    <a:pt x="3130931" y="0"/>
                    <a:pt x="4224020" y="1093089"/>
                    <a:pt x="4224020" y="2441575"/>
                  </a:cubicBezTo>
                  <a:lnTo>
                    <a:pt x="4224020" y="14954864"/>
                  </a:lnTo>
                  <a:close/>
                </a:path>
              </a:pathLst>
            </a:custGeom>
            <a:solidFill>
              <a:srgbClr val="04A180"/>
            </a:solidFill>
          </p:spPr>
        </p:sp>
      </p:grpSp>
      <p:grpSp>
        <p:nvGrpSpPr>
          <p:cNvPr id="42" name="Group 42"/>
          <p:cNvGrpSpPr/>
          <p:nvPr/>
        </p:nvGrpSpPr>
        <p:grpSpPr>
          <a:xfrm rot="-5400000">
            <a:off x="2208363" y="6559863"/>
            <a:ext cx="928710" cy="3288037"/>
            <a:chOff x="0" y="0"/>
            <a:chExt cx="4224020" cy="1495486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224020" cy="14954864"/>
            </a:xfrm>
            <a:custGeom>
              <a:avLst/>
              <a:gdLst/>
              <a:ahLst/>
              <a:cxnLst/>
              <a:rect l="l" t="t" r="r" b="b"/>
              <a:pathLst>
                <a:path w="4224020" h="14954864">
                  <a:moveTo>
                    <a:pt x="4224020" y="14954864"/>
                  </a:moveTo>
                  <a:lnTo>
                    <a:pt x="2441575" y="14954864"/>
                  </a:lnTo>
                  <a:cubicBezTo>
                    <a:pt x="1093089" y="14954864"/>
                    <a:pt x="0" y="13861774"/>
                    <a:pt x="0" y="12513288"/>
                  </a:cubicBezTo>
                  <a:lnTo>
                    <a:pt x="0" y="0"/>
                  </a:lnTo>
                  <a:lnTo>
                    <a:pt x="1782445" y="0"/>
                  </a:lnTo>
                  <a:cubicBezTo>
                    <a:pt x="3130931" y="0"/>
                    <a:pt x="4224020" y="1093089"/>
                    <a:pt x="4224020" y="2441575"/>
                  </a:cubicBezTo>
                  <a:lnTo>
                    <a:pt x="4224020" y="14954864"/>
                  </a:lnTo>
                  <a:close/>
                </a:path>
              </a:pathLst>
            </a:custGeom>
            <a:solidFill>
              <a:srgbClr val="04A180"/>
            </a:solidFill>
          </p:spPr>
        </p:sp>
      </p:grpSp>
      <p:sp>
        <p:nvSpPr>
          <p:cNvPr id="46" name="Freeform 46"/>
          <p:cNvSpPr/>
          <p:nvPr/>
        </p:nvSpPr>
        <p:spPr>
          <a:xfrm>
            <a:off x="12862034" y="1910855"/>
            <a:ext cx="3696046" cy="7038794"/>
          </a:xfrm>
          <a:custGeom>
            <a:avLst/>
            <a:gdLst/>
            <a:ahLst/>
            <a:cxnLst/>
            <a:rect l="l" t="t" r="r" b="b"/>
            <a:pathLst>
              <a:path w="8636000" h="16446500">
                <a:moveTo>
                  <a:pt x="0" y="0"/>
                </a:moveTo>
                <a:lnTo>
                  <a:pt x="8636000" y="0"/>
                </a:lnTo>
                <a:lnTo>
                  <a:pt x="8636000" y="16446500"/>
                </a:lnTo>
                <a:lnTo>
                  <a:pt x="0" y="16446500"/>
                </a:lnTo>
                <a:close/>
              </a:path>
            </a:pathLst>
          </a:custGeom>
        </p:spPr>
      </p:sp>
      <p:sp>
        <p:nvSpPr>
          <p:cNvPr id="47" name="TextBox 47"/>
          <p:cNvSpPr txBox="1"/>
          <p:nvPr/>
        </p:nvSpPr>
        <p:spPr>
          <a:xfrm>
            <a:off x="1707784" y="1546692"/>
            <a:ext cx="4285445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 b="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BÁO CÁO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8700" y="1314450"/>
            <a:ext cx="132338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3. Vấn đề nghiệp vụ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44790" y="3250495"/>
            <a:ext cx="248322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Bán hàng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62976" y="4588748"/>
            <a:ext cx="2483221" cy="90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Kho &amp; </a:t>
            </a:r>
          </a:p>
          <a:p>
            <a:pPr marL="0" lvl="0" indent="0"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Công Thức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40646" y="6384266"/>
            <a:ext cx="229150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Nhân sự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62976" y="7902738"/>
            <a:ext cx="248322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Tài chính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997264" y="2896898"/>
            <a:ext cx="6667500" cy="149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đơn: tại chỗ, mang đi, giao hàng</a:t>
            </a:r>
          </a:p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Gửi pha chế, thanh toán, in hóa đơn</a:t>
            </a:r>
          </a:p>
          <a:p>
            <a:pPr algn="l">
              <a:lnSpc>
                <a:spcPts val="4030"/>
              </a:lnSpc>
            </a:pPr>
            <a:endParaRPr lang="en-US" sz="2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4997264" y="4463783"/>
            <a:ext cx="6667500" cy="149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Nhập kho, theo dõi hạn sử dụng</a:t>
            </a:r>
          </a:p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Công thức pha chế, tự động trừ kho</a:t>
            </a:r>
          </a:p>
          <a:p>
            <a:pPr algn="l">
              <a:lnSpc>
                <a:spcPts val="4030"/>
              </a:lnSpc>
            </a:pPr>
            <a:endParaRPr lang="en-US" sz="2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997264" y="6046151"/>
            <a:ext cx="6667500" cy="149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Phân ca, chấm công</a:t>
            </a:r>
          </a:p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Tính lương nhân viên</a:t>
            </a:r>
          </a:p>
          <a:p>
            <a:pPr algn="l">
              <a:lnSpc>
                <a:spcPts val="4030"/>
              </a:lnSpc>
            </a:pPr>
            <a:endParaRPr lang="en-US" sz="2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4997264" y="7597554"/>
            <a:ext cx="6667500" cy="149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Doanh thu, công nợ</a:t>
            </a:r>
          </a:p>
          <a:p>
            <a:pPr marL="561341" lvl="1" indent="-280670" algn="l">
              <a:lnSpc>
                <a:spcPts val="403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Tính lợi nhuận</a:t>
            </a:r>
          </a:p>
          <a:p>
            <a:pPr algn="l">
              <a:lnSpc>
                <a:spcPts val="4030"/>
              </a:lnSpc>
            </a:pPr>
            <a:endParaRPr lang="en-US" sz="2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CFFB527-DD67-4A34-90E7-7B1237C77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4040" y="344100"/>
            <a:ext cx="4536621" cy="85372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684029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1684029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408590" y="2220695"/>
            <a:ext cx="17610135" cy="6760654"/>
          </a:xfrm>
          <a:custGeom>
            <a:avLst/>
            <a:gdLst/>
            <a:ahLst/>
            <a:cxnLst/>
            <a:rect l="l" t="t" r="r" b="b"/>
            <a:pathLst>
              <a:path w="17543139" h="6710251">
                <a:moveTo>
                  <a:pt x="0" y="0"/>
                </a:moveTo>
                <a:lnTo>
                  <a:pt x="17543139" y="0"/>
                </a:lnTo>
                <a:lnTo>
                  <a:pt x="17543139" y="6710251"/>
                </a:lnTo>
                <a:lnTo>
                  <a:pt x="0" y="671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28700" y="568524"/>
            <a:ext cx="145221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4. Sơ đồ chức năng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839209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1839209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4845653" y="1776397"/>
            <a:ext cx="7658950" cy="7673764"/>
          </a:xfrm>
          <a:custGeom>
            <a:avLst/>
            <a:gdLst/>
            <a:ahLst/>
            <a:cxnLst/>
            <a:rect l="l" t="t" r="r" b="b"/>
            <a:pathLst>
              <a:path w="7658950" h="7673764">
                <a:moveTo>
                  <a:pt x="0" y="0"/>
                </a:moveTo>
                <a:lnTo>
                  <a:pt x="7658950" y="0"/>
                </a:lnTo>
                <a:lnTo>
                  <a:pt x="7658950" y="7673764"/>
                </a:lnTo>
                <a:lnTo>
                  <a:pt x="0" y="7673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28700" y="627646"/>
            <a:ext cx="14650492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5. Sơ đồ Use Case tổng quát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382199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1382199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2838797" y="1520311"/>
            <a:ext cx="12226850" cy="7894480"/>
          </a:xfrm>
          <a:custGeom>
            <a:avLst/>
            <a:gdLst/>
            <a:ahLst/>
            <a:cxnLst/>
            <a:rect l="l" t="t" r="r" b="b"/>
            <a:pathLst>
              <a:path w="12226850" h="7894480">
                <a:moveTo>
                  <a:pt x="0" y="0"/>
                </a:moveTo>
                <a:lnTo>
                  <a:pt x="12226850" y="0"/>
                </a:lnTo>
                <a:lnTo>
                  <a:pt x="12226850" y="7894481"/>
                </a:lnTo>
                <a:lnTo>
                  <a:pt x="0" y="7894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0" r="-640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28700" y="290672"/>
            <a:ext cx="14473577" cy="80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999" b="1" spc="-76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6. Sơ đồ thực thể - mối quan hệ (1)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462791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1462791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/>
          <p:cNvSpPr/>
          <p:nvPr/>
        </p:nvSpPr>
        <p:spPr>
          <a:xfrm>
            <a:off x="3917987" y="1569387"/>
            <a:ext cx="10452026" cy="7857830"/>
          </a:xfrm>
          <a:custGeom>
            <a:avLst/>
            <a:gdLst/>
            <a:ahLst/>
            <a:cxnLst/>
            <a:rect l="l" t="t" r="r" b="b"/>
            <a:pathLst>
              <a:path w="10452026" h="7857830">
                <a:moveTo>
                  <a:pt x="0" y="0"/>
                </a:moveTo>
                <a:lnTo>
                  <a:pt x="10452026" y="0"/>
                </a:lnTo>
                <a:lnTo>
                  <a:pt x="10452026" y="7857829"/>
                </a:lnTo>
                <a:lnTo>
                  <a:pt x="0" y="7857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8" t="-593" b="-593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28700" y="371265"/>
            <a:ext cx="14351603" cy="80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999" b="1" spc="-76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Sơ đồ thực thể - mối quan hệ (2)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3"/>
          <p:cNvGrpSpPr/>
          <p:nvPr/>
        </p:nvGrpSpPr>
        <p:grpSpPr>
          <a:xfrm>
            <a:off x="1028700" y="2829545"/>
            <a:ext cx="13233829" cy="6428755"/>
            <a:chOff x="0" y="0"/>
            <a:chExt cx="3485453" cy="16931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85453" cy="1693170"/>
            </a:xfrm>
            <a:custGeom>
              <a:avLst/>
              <a:gdLst/>
              <a:ahLst/>
              <a:cxnLst/>
              <a:rect l="l" t="t" r="r" b="b"/>
              <a:pathLst>
                <a:path w="3485453" h="1693170">
                  <a:moveTo>
                    <a:pt x="17550" y="0"/>
                  </a:moveTo>
                  <a:lnTo>
                    <a:pt x="3467902" y="0"/>
                  </a:lnTo>
                  <a:cubicBezTo>
                    <a:pt x="3472557" y="0"/>
                    <a:pt x="3477021" y="1849"/>
                    <a:pt x="3480312" y="5140"/>
                  </a:cubicBezTo>
                  <a:cubicBezTo>
                    <a:pt x="3483604" y="8432"/>
                    <a:pt x="3485453" y="12896"/>
                    <a:pt x="3485453" y="17550"/>
                  </a:cubicBezTo>
                  <a:lnTo>
                    <a:pt x="3485453" y="1675620"/>
                  </a:lnTo>
                  <a:cubicBezTo>
                    <a:pt x="3485453" y="1680274"/>
                    <a:pt x="3483604" y="1684738"/>
                    <a:pt x="3480312" y="1688030"/>
                  </a:cubicBezTo>
                  <a:cubicBezTo>
                    <a:pt x="3477021" y="1691321"/>
                    <a:pt x="3472557" y="1693170"/>
                    <a:pt x="3467902" y="1693170"/>
                  </a:cubicBezTo>
                  <a:lnTo>
                    <a:pt x="17550" y="1693170"/>
                  </a:lnTo>
                  <a:cubicBezTo>
                    <a:pt x="12896" y="1693170"/>
                    <a:pt x="8432" y="1691321"/>
                    <a:pt x="5140" y="1688030"/>
                  </a:cubicBezTo>
                  <a:cubicBezTo>
                    <a:pt x="1849" y="1684738"/>
                    <a:pt x="0" y="1680274"/>
                    <a:pt x="0" y="1675620"/>
                  </a:cubicBezTo>
                  <a:lnTo>
                    <a:pt x="0" y="17550"/>
                  </a:lnTo>
                  <a:cubicBezTo>
                    <a:pt x="0" y="12896"/>
                    <a:pt x="1849" y="8432"/>
                    <a:pt x="5140" y="5140"/>
                  </a:cubicBezTo>
                  <a:cubicBezTo>
                    <a:pt x="8432" y="1849"/>
                    <a:pt x="12896" y="0"/>
                    <a:pt x="17550" y="0"/>
                  </a:cubicBezTo>
                  <a:close/>
                </a:path>
              </a:pathLst>
            </a:custGeom>
            <a:solidFill>
              <a:srgbClr val="F3F3F3"/>
            </a:solidFill>
            <a:ln cap="rnd">
              <a:noFill/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485453" cy="173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AutoShape 2"/>
          <p:cNvSpPr/>
          <p:nvPr/>
        </p:nvSpPr>
        <p:spPr>
          <a:xfrm flipV="1">
            <a:off x="1028700" y="2548557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2548557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1220092" y="2866096"/>
            <a:ext cx="7059045" cy="623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Frontend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ReactJS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Tailwind CSS 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Axios</a:t>
            </a:r>
          </a:p>
          <a:p>
            <a:pPr algn="just">
              <a:lnSpc>
                <a:spcPts val="4950"/>
              </a:lnSpc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Backend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Node.js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Express 5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RESTful API</a:t>
            </a:r>
          </a:p>
          <a:p>
            <a:pPr algn="l">
              <a:lnSpc>
                <a:spcPts val="4950"/>
              </a:lnSpc>
            </a:pPr>
            <a:r>
              <a:rPr lang="en-US" sz="3000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Cơ sở dữ liệu</a:t>
            </a:r>
          </a:p>
          <a:p>
            <a:pPr marL="647700" lvl="1" indent="-323850" algn="l">
              <a:lnSpc>
                <a:spcPts val="495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MySQL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736830" y="3136798"/>
            <a:ext cx="3351941" cy="2369927"/>
          </a:xfrm>
          <a:custGeom>
            <a:avLst/>
            <a:gdLst/>
            <a:ahLst/>
            <a:cxnLst/>
            <a:rect l="l" t="t" r="r" b="b"/>
            <a:pathLst>
              <a:path w="3351941" h="2369927">
                <a:moveTo>
                  <a:pt x="0" y="0"/>
                </a:moveTo>
                <a:lnTo>
                  <a:pt x="3351940" y="0"/>
                </a:lnTo>
                <a:lnTo>
                  <a:pt x="3351940" y="2369927"/>
                </a:lnTo>
                <a:lnTo>
                  <a:pt x="0" y="2369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7419509" y="6133525"/>
            <a:ext cx="2495703" cy="2495703"/>
          </a:xfrm>
          <a:custGeom>
            <a:avLst/>
            <a:gdLst/>
            <a:ahLst/>
            <a:cxnLst/>
            <a:rect l="l" t="t" r="r" b="b"/>
            <a:pathLst>
              <a:path w="2495703" h="2495703">
                <a:moveTo>
                  <a:pt x="0" y="0"/>
                </a:moveTo>
                <a:lnTo>
                  <a:pt x="2495703" y="0"/>
                </a:lnTo>
                <a:lnTo>
                  <a:pt x="2495703" y="2495703"/>
                </a:lnTo>
                <a:lnTo>
                  <a:pt x="0" y="2495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0736830" y="6498368"/>
            <a:ext cx="3061258" cy="1582447"/>
          </a:xfrm>
          <a:custGeom>
            <a:avLst/>
            <a:gdLst/>
            <a:ahLst/>
            <a:cxnLst/>
            <a:rect l="l" t="t" r="r" b="b"/>
            <a:pathLst>
              <a:path w="3061258" h="1582447">
                <a:moveTo>
                  <a:pt x="0" y="0"/>
                </a:moveTo>
                <a:lnTo>
                  <a:pt x="3061258" y="0"/>
                </a:lnTo>
                <a:lnTo>
                  <a:pt x="3061258" y="1582447"/>
                </a:lnTo>
                <a:lnTo>
                  <a:pt x="0" y="1582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28700" y="1336994"/>
            <a:ext cx="132338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7. Công nghệ ứng dụng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09</a:t>
            </a:r>
          </a:p>
        </p:txBody>
      </p:sp>
      <p:sp>
        <p:nvSpPr>
          <p:cNvPr id="42" name="Freeform 42"/>
          <p:cNvSpPr/>
          <p:nvPr/>
        </p:nvSpPr>
        <p:spPr>
          <a:xfrm>
            <a:off x="6731327" y="3202058"/>
            <a:ext cx="3841110" cy="2304666"/>
          </a:xfrm>
          <a:custGeom>
            <a:avLst/>
            <a:gdLst/>
            <a:ahLst/>
            <a:cxnLst/>
            <a:rect l="l" t="t" r="r" b="b"/>
            <a:pathLst>
              <a:path w="3841110" h="2304666">
                <a:moveTo>
                  <a:pt x="0" y="0"/>
                </a:moveTo>
                <a:lnTo>
                  <a:pt x="3841110" y="0"/>
                </a:lnTo>
                <a:lnTo>
                  <a:pt x="3841110" y="2304667"/>
                </a:lnTo>
                <a:lnTo>
                  <a:pt x="0" y="2304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684029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1684029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1028700" y="568524"/>
            <a:ext cx="14522129" cy="92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8. Kết quả thực hiện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10</a:t>
            </a:r>
          </a:p>
        </p:txBody>
      </p:sp>
      <p:sp>
        <p:nvSpPr>
          <p:cNvPr id="35" name="Freeform 35"/>
          <p:cNvSpPr/>
          <p:nvPr/>
        </p:nvSpPr>
        <p:spPr>
          <a:xfrm>
            <a:off x="408590" y="2211977"/>
            <a:ext cx="17565901" cy="6769371"/>
          </a:xfrm>
          <a:custGeom>
            <a:avLst/>
            <a:gdLst/>
            <a:ahLst/>
            <a:cxnLst/>
            <a:rect l="l" t="t" r="r" b="b"/>
            <a:pathLst>
              <a:path w="17543139" h="6710251">
                <a:moveTo>
                  <a:pt x="0" y="0"/>
                </a:moveTo>
                <a:lnTo>
                  <a:pt x="17543139" y="0"/>
                </a:lnTo>
                <a:lnTo>
                  <a:pt x="17543139" y="6710251"/>
                </a:lnTo>
                <a:lnTo>
                  <a:pt x="0" y="6710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2548557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54533" y="2548557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04A180">
                <a:alpha val="89804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9" name="AutoShape 29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A5E4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1028700" y="1336994"/>
            <a:ext cx="13233829" cy="92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b="1" spc="-88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9. Các hạn chế còn tồn tại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11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1791" y="3245723"/>
            <a:ext cx="11381850" cy="400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669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Chưa nghiên cứu sâu về vấn đề </a:t>
            </a:r>
            <a:r>
              <a:rPr lang="en-US" sz="3399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an toàn, bảo mật.</a:t>
            </a:r>
          </a:p>
          <a:p>
            <a:pPr marL="734059" lvl="1" indent="-367030">
              <a:lnSpc>
                <a:spcPts val="669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Chưa tích hợp hệ thống </a:t>
            </a:r>
            <a:r>
              <a:rPr lang="en-US" sz="3399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thanh toán điện tử</a:t>
            </a: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marL="734059" lvl="1" indent="-367030">
              <a:lnSpc>
                <a:spcPts val="669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Chưa vận hành lâu dài trong </a:t>
            </a:r>
            <a:r>
              <a:rPr lang="en-US" sz="3399" b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thực tế</a:t>
            </a:r>
            <a:r>
              <a:rPr lang="en-US" sz="33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nên chưa đánh giá được đầy đủ tính ổn định của hệ thống.</a:t>
            </a:r>
          </a:p>
          <a:p>
            <a:pPr>
              <a:lnSpc>
                <a:spcPts val="4950"/>
              </a:lnSpc>
            </a:pPr>
            <a:endParaRPr lang="en-US" sz="3399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-2963445">
            <a:off x="14083014" y="9427293"/>
            <a:ext cx="4311092" cy="4378531"/>
            <a:chOff x="0" y="0"/>
            <a:chExt cx="1135432" cy="11531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963445">
            <a:off x="14783266" y="5062215"/>
            <a:ext cx="4311092" cy="4378531"/>
            <a:chOff x="0" y="0"/>
            <a:chExt cx="1135432" cy="11531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2963445">
            <a:off x="15646403" y="2954235"/>
            <a:ext cx="4311092" cy="4378531"/>
            <a:chOff x="0" y="0"/>
            <a:chExt cx="1135432" cy="11531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2963445">
            <a:off x="12798124" y="8289548"/>
            <a:ext cx="4311092" cy="4378531"/>
            <a:chOff x="0" y="0"/>
            <a:chExt cx="1135432" cy="11531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solidFill>
              <a:srgbClr val="04A180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2963445">
            <a:off x="15400327" y="6794629"/>
            <a:ext cx="3962311" cy="4304604"/>
            <a:chOff x="0" y="0"/>
            <a:chExt cx="1043572" cy="11337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3572" cy="1133723"/>
            </a:xfrm>
            <a:custGeom>
              <a:avLst/>
              <a:gdLst/>
              <a:ahLst/>
              <a:cxnLst/>
              <a:rect l="l" t="t" r="r" b="b"/>
              <a:pathLst>
                <a:path w="1043572" h="1133723">
                  <a:moveTo>
                    <a:pt x="99648" y="0"/>
                  </a:moveTo>
                  <a:lnTo>
                    <a:pt x="943923" y="0"/>
                  </a:lnTo>
                  <a:cubicBezTo>
                    <a:pt x="970352" y="0"/>
                    <a:pt x="995698" y="10499"/>
                    <a:pt x="1014385" y="29186"/>
                  </a:cubicBezTo>
                  <a:cubicBezTo>
                    <a:pt x="1033073" y="47874"/>
                    <a:pt x="1043572" y="73220"/>
                    <a:pt x="1043572" y="99648"/>
                  </a:cubicBezTo>
                  <a:lnTo>
                    <a:pt x="1043572" y="1034074"/>
                  </a:lnTo>
                  <a:cubicBezTo>
                    <a:pt x="1043572" y="1060503"/>
                    <a:pt x="1033073" y="1085849"/>
                    <a:pt x="1014385" y="1104537"/>
                  </a:cubicBezTo>
                  <a:cubicBezTo>
                    <a:pt x="995698" y="1123224"/>
                    <a:pt x="970352" y="1133723"/>
                    <a:pt x="943923" y="1133723"/>
                  </a:cubicBezTo>
                  <a:lnTo>
                    <a:pt x="99648" y="1133723"/>
                  </a:lnTo>
                  <a:cubicBezTo>
                    <a:pt x="73220" y="1133723"/>
                    <a:pt x="47874" y="1123224"/>
                    <a:pt x="29186" y="1104537"/>
                  </a:cubicBezTo>
                  <a:cubicBezTo>
                    <a:pt x="10499" y="1085849"/>
                    <a:pt x="0" y="1060503"/>
                    <a:pt x="0" y="1034074"/>
                  </a:cubicBezTo>
                  <a:lnTo>
                    <a:pt x="0" y="99648"/>
                  </a:lnTo>
                  <a:cubicBezTo>
                    <a:pt x="0" y="73220"/>
                    <a:pt x="10499" y="47874"/>
                    <a:pt x="29186" y="29186"/>
                  </a:cubicBezTo>
                  <a:cubicBezTo>
                    <a:pt x="47874" y="10499"/>
                    <a:pt x="73220" y="0"/>
                    <a:pt x="99648" y="0"/>
                  </a:cubicBezTo>
                  <a:close/>
                </a:path>
              </a:pathLst>
            </a:custGeom>
            <a:solidFill>
              <a:srgbClr val="A5E473">
                <a:alpha val="8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43572" cy="1171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2963445">
            <a:off x="11481945" y="8299073"/>
            <a:ext cx="4311092" cy="4378531"/>
            <a:chOff x="0" y="0"/>
            <a:chExt cx="1135432" cy="11531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35432" cy="1153193"/>
            </a:xfrm>
            <a:custGeom>
              <a:avLst/>
              <a:gdLst/>
              <a:ahLst/>
              <a:cxnLst/>
              <a:rect l="l" t="t" r="r" b="b"/>
              <a:pathLst>
                <a:path w="1135432" h="1153193">
                  <a:moveTo>
                    <a:pt x="91587" y="0"/>
                  </a:moveTo>
                  <a:lnTo>
                    <a:pt x="1043845" y="0"/>
                  </a:lnTo>
                  <a:cubicBezTo>
                    <a:pt x="1094427" y="0"/>
                    <a:pt x="1135432" y="41005"/>
                    <a:pt x="1135432" y="91587"/>
                  </a:cubicBezTo>
                  <a:lnTo>
                    <a:pt x="1135432" y="1061607"/>
                  </a:lnTo>
                  <a:cubicBezTo>
                    <a:pt x="1135432" y="1112189"/>
                    <a:pt x="1094427" y="1153193"/>
                    <a:pt x="1043845" y="1153193"/>
                  </a:cubicBezTo>
                  <a:lnTo>
                    <a:pt x="91587" y="1153193"/>
                  </a:lnTo>
                  <a:cubicBezTo>
                    <a:pt x="41005" y="1153193"/>
                    <a:pt x="0" y="1112189"/>
                    <a:pt x="0" y="1061607"/>
                  </a:cubicBezTo>
                  <a:lnTo>
                    <a:pt x="0" y="91587"/>
                  </a:lnTo>
                  <a:cubicBezTo>
                    <a:pt x="0" y="41005"/>
                    <a:pt x="41005" y="0"/>
                    <a:pt x="91587" y="0"/>
                  </a:cubicBezTo>
                  <a:close/>
                </a:path>
              </a:pathLst>
            </a:custGeom>
            <a:ln w="19050" cap="rnd">
              <a:solidFill>
                <a:srgbClr val="5170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35432" cy="1191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9490950"/>
            <a:ext cx="18288000" cy="821934"/>
            <a:chOff x="0" y="0"/>
            <a:chExt cx="4816593" cy="2164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16592" cy="216476"/>
            </a:xfrm>
            <a:custGeom>
              <a:avLst/>
              <a:gdLst/>
              <a:ahLst/>
              <a:cxnLst/>
              <a:rect l="l" t="t" r="r" b="b"/>
              <a:pathLst>
                <a:path w="4816592" h="216476">
                  <a:moveTo>
                    <a:pt x="0" y="0"/>
                  </a:moveTo>
                  <a:lnTo>
                    <a:pt x="4816592" y="0"/>
                  </a:lnTo>
                  <a:lnTo>
                    <a:pt x="4816592" y="216476"/>
                  </a:lnTo>
                  <a:lnTo>
                    <a:pt x="0" y="216476"/>
                  </a:lnTo>
                  <a:close/>
                </a:path>
              </a:pathLst>
            </a:custGeom>
            <a:solidFill>
              <a:srgbClr val="193C4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16593" cy="254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78169" y="9820319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Báo cáo luận văn </a:t>
            </a:r>
          </a:p>
        </p:txBody>
      </p:sp>
      <p:sp>
        <p:nvSpPr>
          <p:cNvPr id="27" name="AutoShape 27"/>
          <p:cNvSpPr/>
          <p:nvPr/>
        </p:nvSpPr>
        <p:spPr>
          <a:xfrm>
            <a:off x="3722617" y="9911442"/>
            <a:ext cx="12618740" cy="0"/>
          </a:xfrm>
          <a:prstGeom prst="line">
            <a:avLst/>
          </a:prstGeom>
          <a:ln w="19050" cap="flat">
            <a:solidFill>
              <a:srgbClr val="F3F3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064967" y="6079894"/>
            <a:ext cx="1730336" cy="0"/>
          </a:xfrm>
          <a:prstGeom prst="line">
            <a:avLst/>
          </a:prstGeom>
          <a:ln w="85725" cap="flat">
            <a:solidFill>
              <a:srgbClr val="193C4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2590800" y="6079894"/>
            <a:ext cx="1730336" cy="0"/>
          </a:xfrm>
          <a:prstGeom prst="line">
            <a:avLst/>
          </a:prstGeom>
          <a:ln w="85725" cap="flat">
            <a:solidFill>
              <a:srgbClr val="04A1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12862034" y="9829844"/>
            <a:ext cx="4688812" cy="22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40"/>
              </a:lnSpc>
            </a:pPr>
            <a:r>
              <a:rPr lang="en-US" sz="2000">
                <a:solidFill>
                  <a:srgbClr val="F3F3F3"/>
                </a:solidFill>
                <a:latin typeface="Muli"/>
                <a:ea typeface="Muli"/>
                <a:cs typeface="Muli"/>
                <a:sym typeface="Muli"/>
              </a:rPr>
              <a:t>12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3282871"/>
            <a:ext cx="16230600" cy="2263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1" spc="-7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CHÚNG EM XIN CHÂN THÀNH </a:t>
            </a:r>
          </a:p>
          <a:p>
            <a:pPr algn="l">
              <a:lnSpc>
                <a:spcPts val="9100"/>
              </a:lnSpc>
            </a:pPr>
            <a:r>
              <a:rPr lang="en-US" sz="6500" b="1" spc="-7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CẢM ƠN HỘI ĐỒNG ĐÃ THEO DÕI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453</Words>
  <Application>Microsoft Office PowerPoint</Application>
  <PresentationFormat>Custom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Open Sans Bold</vt:lpstr>
      <vt:lpstr>Calibri</vt:lpstr>
      <vt:lpstr>Open Sans</vt:lpstr>
      <vt:lpstr>Muli</vt:lpstr>
      <vt:lpstr>Arial</vt:lpstr>
      <vt:lpstr>Muli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SlideBaoVe</dc:title>
  <cp:lastModifiedBy>Trần Trọng Phúc</cp:lastModifiedBy>
  <cp:revision>2</cp:revision>
  <dcterms:created xsi:type="dcterms:W3CDTF">2006-08-16T00:00:00Z</dcterms:created>
  <dcterms:modified xsi:type="dcterms:W3CDTF">2026-08-16T17:36:03Z</dcterms:modified>
  <dc:identifier>DAHRmEThRdM</dc:identifier>
</cp:coreProperties>
</file>